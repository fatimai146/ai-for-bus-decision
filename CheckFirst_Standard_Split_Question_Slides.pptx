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4F7F5C"/>
                </a:solidFill>
                <a:latin typeface="Arial"/>
              </a:rPr>
              <a:t>IDEA 2 OF 3  |  STANDARD SPLIT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200" b="1" i="0">
                <a:solidFill>
                  <a:srgbClr val="1F2A30"/>
                </a:solidFill>
                <a:latin typeface="Arial"/>
              </a:rPr>
              <a:t>CheckFirst: the restaurant asks, so no friend has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63040"/>
            <a:ext cx="109728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4F7F5C"/>
                </a:solidFill>
                <a:latin typeface="Calibri"/>
              </a:rPr>
              <a:t>Need 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Asking for separate checks sounds cheap when a friend brings it up, but it is just logistics when the restaurant asks every 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2103120"/>
            <a:ext cx="6172200" cy="406908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first_server_as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86000"/>
            <a:ext cx="3429000" cy="25694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4937760"/>
            <a:ext cx="34290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Asked at the start of every meal, </a:t>
            </a:r>
            <a:r>
              <a:rPr sz="1200" b="0" i="1">
                <a:solidFill>
                  <a:srgbClr val="333333"/>
                </a:solidFill>
                <a:latin typeface="Calibri"/>
              </a:rPr>
              <a:t>as routinely as "still or sparkling water?"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86000"/>
            <a:ext cx="2194560" cy="3703320"/>
          </a:xfrm>
          <a:prstGeom prst="roundRect">
            <a:avLst>
              <a:gd name="adj" fmla="val 8000"/>
            </a:avLst>
          </a:prstGeom>
          <a:solidFill>
            <a:srgbClr val="1F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44568" y="2468880"/>
            <a:ext cx="1975104" cy="3337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578608"/>
            <a:ext cx="17373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Table 12  ·  New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34640"/>
            <a:ext cx="17373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1F2A30"/>
                </a:solidFill>
                <a:latin typeface="Arial"/>
              </a:rPr>
              <a:t>How is this table paying?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3474720"/>
            <a:ext cx="1737360" cy="347472"/>
          </a:xfrm>
          <a:prstGeom prst="roundRect">
            <a:avLst>
              <a:gd name="adj" fmla="val 30000"/>
            </a:avLst>
          </a:prstGeom>
          <a:solidFill>
            <a:srgbClr val="4F7F5C"/>
          </a:solidFill>
          <a:ln w="12700">
            <a:solidFill>
              <a:srgbClr val="4F7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One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931920"/>
            <a:ext cx="1737360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4F7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7F5C"/>
                </a:solidFill>
                <a:latin typeface="Calibri"/>
              </a:rPr>
              <a:t>Split evenly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4389120"/>
            <a:ext cx="1737360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4F7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7F5C"/>
                </a:solidFill>
                <a:latin typeface="Calibri"/>
              </a:rPr>
              <a:t>Separate checks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4846320"/>
            <a:ext cx="1737360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4F7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7F5C"/>
                </a:solidFill>
                <a:latin typeface="Calibri"/>
              </a:rPr>
              <a:t>Decide later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5349240"/>
            <a:ext cx="1737360" cy="310896"/>
          </a:xfrm>
          <a:prstGeom prst="roundRect">
            <a:avLst>
              <a:gd name="adj" fmla="val 30000"/>
            </a:avLst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5349240"/>
            <a:ext cx="173736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0" i="1">
                <a:solidFill>
                  <a:srgbClr val="6B6B6B"/>
                </a:solidFill>
                <a:latin typeface="Calibri"/>
              </a:rPr>
              <a:t>Pick one to send the first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194560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1F2A30"/>
                </a:solidFill>
                <a:latin typeface="Calibri"/>
              </a:rPr>
              <a:t>1  Asked at every 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523744"/>
            <a:ext cx="45720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50" b="0" i="0">
                <a:solidFill>
                  <a:srgbClr val="333333"/>
                </a:solidFill>
                <a:latin typeface="Calibri"/>
              </a:rPr>
              <a:t>When the server takes the drink order, they ask "One check, split evenly, or separate checks?" Every table hears it, every time.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474720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1F2A30"/>
                </a:solidFill>
                <a:latin typeface="Calibri"/>
              </a:rPr>
              <a:t>2  Built into the order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803904"/>
            <a:ext cx="45720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50" b="0" i="0">
                <a:solidFill>
                  <a:srgbClr val="333333"/>
                </a:solidFill>
                <a:latin typeface="Calibri"/>
              </a:rPr>
              <a:t>The server's handheld will not send the first order until a check style is picked, so no table gets skipped.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754879"/>
            <a:ext cx="4572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1F2A30"/>
                </a:solidFill>
                <a:latin typeface="Calibri"/>
              </a:rPr>
              <a:t>3  The bill arrives 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5084064"/>
            <a:ext cx="45720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50" b="0" i="0">
                <a:solidFill>
                  <a:srgbClr val="333333"/>
                </a:solidFill>
                <a:latin typeface="Calibri"/>
              </a:rPr>
              <a:t>Separate checks are already set up when the meal ends. Nobody at the table had to be the one to bring it up.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4F7F5C"/>
                </a:solidFill>
                <a:latin typeface="Arial"/>
              </a:rPr>
              <a:t>IDEA 2 OF 3  |  CHECKFIRST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200" b="1" i="0">
                <a:solidFill>
                  <a:srgbClr val="1F2A30"/>
                </a:solidFill>
                <a:latin typeface="Arial"/>
              </a:rPr>
              <a:t>Positioning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00200"/>
            <a:ext cx="1508760" cy="6949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 spc="100">
                <a:solidFill>
                  <a:srgbClr val="4F7F5C"/>
                </a:solidFill>
                <a:latin typeface="Arial"/>
              </a:rPr>
              <a:t>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600200"/>
            <a:ext cx="5669280" cy="6949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friends who eat out together on different budgets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2648" y="2295144"/>
            <a:ext cx="7342631" cy="0"/>
          </a:xfrm>
          <a:prstGeom prst="line">
            <a:avLst/>
          </a:prstGeom>
          <a:ln w="9525">
            <a:solidFill>
              <a:srgbClr val="D6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" y="2295144"/>
            <a:ext cx="1508760" cy="6949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 spc="100">
                <a:solidFill>
                  <a:srgbClr val="4F7F5C"/>
                </a:solidFill>
                <a:latin typeface="Arial"/>
              </a:rPr>
              <a:t>WHO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2295144"/>
            <a:ext cx="5669280" cy="6949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accept an even split because being the one to ask for separate checks feels cheap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2648" y="2990087"/>
            <a:ext cx="7342631" cy="0"/>
          </a:xfrm>
          <a:prstGeom prst="line">
            <a:avLst/>
          </a:prstGeom>
          <a:ln w="9525">
            <a:solidFill>
              <a:srgbClr val="D6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2648" y="2990088"/>
            <a:ext cx="1508760" cy="6949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 spc="100">
                <a:solidFill>
                  <a:srgbClr val="4F7F5C"/>
                </a:solidFill>
                <a:latin typeface="Arial"/>
              </a:rPr>
              <a:t>CHECKFIRST 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990088"/>
            <a:ext cx="5669280" cy="6949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a restaurant service routine built into the server's ordering step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2648" y="3685032"/>
            <a:ext cx="7342631" cy="0"/>
          </a:xfrm>
          <a:prstGeom prst="line">
            <a:avLst/>
          </a:prstGeom>
          <a:ln w="9525">
            <a:solidFill>
              <a:srgbClr val="D6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2648" y="3685032"/>
            <a:ext cx="1508760" cy="6949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 spc="100">
                <a:solidFill>
                  <a:srgbClr val="4F7F5C"/>
                </a:solidFill>
                <a:latin typeface="Arial"/>
              </a:rPr>
              <a:t>THAT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685032"/>
            <a:ext cx="5669280" cy="6949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asks every table how they are paying before anyone orders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2648" y="4379976"/>
            <a:ext cx="7342631" cy="0"/>
          </a:xfrm>
          <a:prstGeom prst="line">
            <a:avLst/>
          </a:prstGeom>
          <a:ln w="9525">
            <a:solidFill>
              <a:srgbClr val="D6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2648" y="4379976"/>
            <a:ext cx="1508760" cy="6949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 spc="100">
                <a:solidFill>
                  <a:srgbClr val="4F7F5C"/>
                </a:solidFill>
                <a:latin typeface="Arial"/>
              </a:rPr>
              <a:t>UNLIKE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4379976"/>
            <a:ext cx="5669280" cy="6949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waiting for a friend to ask the server when the bill comes, or splitting it later on Splitwise or Venmo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648" y="5074920"/>
            <a:ext cx="7342631" cy="0"/>
          </a:xfrm>
          <a:prstGeom prst="line">
            <a:avLst/>
          </a:prstGeom>
          <a:ln w="9525">
            <a:solidFill>
              <a:srgbClr val="D6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2648" y="5074920"/>
            <a:ext cx="1508760" cy="6949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 i="0" spc="100">
                <a:solidFill>
                  <a:srgbClr val="4F7F5C"/>
                </a:solidFill>
                <a:latin typeface="Arial"/>
              </a:rPr>
              <a:t>OUR PRODUCT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5074920"/>
            <a:ext cx="5669280" cy="6949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makes the split a question the restaurant asks everyone, so no friend has to raise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8200" y="1600200"/>
            <a:ext cx="3200400" cy="4160520"/>
          </a:xfrm>
          <a:prstGeom prst="roundRect">
            <a:avLst>
              <a:gd name="adj" fmla="val 5000"/>
            </a:avLst>
          </a:prstGeom>
          <a:solidFill>
            <a:srgbClr val="4F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32520" y="1874519"/>
            <a:ext cx="2743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400">
                <a:solidFill>
                  <a:srgbClr val="FFFFFF"/>
                </a:solidFill>
                <a:latin typeface="Arial"/>
              </a:rPr>
              <a:t>THE ONE BENEFIT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331720"/>
            <a:ext cx="2743200" cy="3200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Separate checks become a normal choice, not a personal request.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4F7F5C"/>
                </a:solidFill>
                <a:latin typeface="Arial"/>
              </a:rPr>
              <a:t>IDEA 2 OF 3  |  CHECKFIRST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200" b="1" i="0">
                <a:solidFill>
                  <a:srgbClr val="1F2A30"/>
                </a:solidFill>
                <a:latin typeface="Arial"/>
              </a:rPr>
              <a:t>Perceptual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965960"/>
            <a:ext cx="3429000" cy="1874520"/>
          </a:xfrm>
          <a:prstGeom prst="rect">
            <a:avLst/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731520" y="3840480"/>
            <a:ext cx="6812280" cy="0"/>
          </a:xfrm>
          <a:prstGeom prst="line">
            <a:avLst/>
          </a:prstGeom>
          <a:ln w="15875">
            <a:solidFill>
              <a:srgbClr val="6B6B6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114800" y="1965960"/>
            <a:ext cx="0" cy="3794760"/>
          </a:xfrm>
          <a:prstGeom prst="line">
            <a:avLst/>
          </a:prstGeom>
          <a:ln w="15875">
            <a:solidFill>
              <a:srgbClr val="6B6B6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0" y="1581912"/>
            <a:ext cx="3657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1F2A30"/>
                </a:solidFill>
                <a:latin typeface="Arial"/>
              </a:rPr>
              <a:t>Every table, every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806440"/>
            <a:ext cx="3657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1F2A30"/>
                </a:solidFill>
                <a:latin typeface="Arial"/>
              </a:rPr>
              <a:t>Only if someone brings it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13632"/>
            <a:ext cx="18288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1F2A30"/>
                </a:solidFill>
                <a:latin typeface="Arial"/>
              </a:rPr>
              <a:t>A friend has</a:t>
            </a:r>
          </a:p>
          <a:p>
            <a:pPr algn="l"/>
            <a:r>
              <a:rPr sz="1300" b="1" i="0">
                <a:solidFill>
                  <a:srgbClr val="1F2A30"/>
                </a:solidFill>
                <a:latin typeface="Arial"/>
              </a:rPr>
              <a:t>to raise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3913632"/>
            <a:ext cx="18288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300" b="1" i="0">
                <a:solidFill>
                  <a:srgbClr val="1F2A30"/>
                </a:solidFill>
                <a:latin typeface="Arial"/>
              </a:rPr>
              <a:t>The restaurant</a:t>
            </a:r>
          </a:p>
          <a:p>
            <a:pPr algn="r"/>
            <a:r>
              <a:rPr sz="1300" b="1" i="0">
                <a:solidFill>
                  <a:srgbClr val="1F2A30"/>
                </a:solidFill>
                <a:latin typeface="Arial"/>
              </a:rPr>
              <a:t>raises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2423160"/>
            <a:ext cx="21945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333333"/>
                </a:solidFill>
                <a:latin typeface="Calibri"/>
              </a:rPr>
              <a:t>One card, split evenly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43484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333333"/>
                </a:solidFill>
                <a:latin typeface="Calibri"/>
              </a:rPr>
              <a:t>Asking the server for separate checks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00200" y="5120640"/>
            <a:ext cx="192024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333333"/>
                </a:solidFill>
                <a:latin typeface="Calibri"/>
              </a:rPr>
              <a:t>Splitwise / Venmo later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434340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333333"/>
                </a:solidFill>
                <a:latin typeface="Calibri"/>
              </a:rPr>
              <a:t>Some servers ask "together or separate?"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5029200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5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333333"/>
                </a:solidFill>
                <a:latin typeface="Calibri"/>
              </a:rPr>
              <a:t>QR pay at the 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2468880"/>
            <a:ext cx="201168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4F7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4F7F5C"/>
                </a:solidFill>
                <a:latin typeface="Arial"/>
              </a:rPr>
              <a:t>CheckFirst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737360"/>
            <a:ext cx="3657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1F2A30"/>
                </a:solidFill>
                <a:latin typeface="Arial"/>
              </a:rPr>
              <a:t>Why these axes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194560"/>
            <a:ext cx="3657600" cy="2011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 X: who carries the social cost of raising the split.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•  Y: consistency. A question only feels like normal logistics if every table gets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4160520"/>
            <a:ext cx="3886200" cy="1783080"/>
          </a:xfrm>
          <a:prstGeom prst="roundRect">
            <a:avLst>
              <a:gd name="adj" fmla="val 6000"/>
            </a:avLst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4315968"/>
            <a:ext cx="352044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4F7F5C"/>
                </a:solidFill>
                <a:latin typeface="Calibri"/>
              </a:rPr>
              <a:t>Takeaway: 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Some servers already ask, but only sometimes, so asking still looks unusual. CheckFirst asks every table, every time, which is what turns the split into logistics.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47472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6B6B6B"/>
                </a:solidFill>
                <a:latin typeface="Arial"/>
              </a:rPr>
              <a:t>REVERSE INTERVIEWING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200" b="1" i="0">
                <a:solidFill>
                  <a:srgbClr val="1F2A30"/>
                </a:solidFill>
                <a:latin typeface="Arial"/>
              </a:rPr>
              <a:t>What an LLM asked us and how we answered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600200"/>
            <a:ext cx="3520440" cy="4572000"/>
          </a:xfrm>
          <a:prstGeom prst="roundRect">
            <a:avLst>
              <a:gd name="adj" fmla="val 4000"/>
            </a:avLst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783080"/>
            <a:ext cx="3154680" cy="4297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E05A2B"/>
                </a:solidFill>
                <a:latin typeface="Arial"/>
              </a:rPr>
              <a:t>SplitSeat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2A30"/>
                </a:solidFill>
                <a:latin typeface="Calibri"/>
              </a:rPr>
              <a:t>Q: How do shared appetizers get charged?</a:t>
            </a:r>
          </a:p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A: Servers tag shared items to "table," and those split evenly across everyone.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2A30"/>
                </a:solidFill>
                <a:latin typeface="Calibri"/>
              </a:rPr>
              <a:t>Q: Why would restaurants adopt it?</a:t>
            </a:r>
          </a:p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A: Faster table turns: no server time spent running five cards.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2A30"/>
                </a:solidFill>
                <a:latin typeface="Calibri"/>
              </a:rPr>
              <a:t>Q: What if a server forgets to tag a seat?</a:t>
            </a:r>
          </a:p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A: The POS asks for a seat number before an item can be sent to the kitchen.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600200"/>
            <a:ext cx="3520440" cy="4572000"/>
          </a:xfrm>
          <a:prstGeom prst="roundRect">
            <a:avLst>
              <a:gd name="adj" fmla="val 4000"/>
            </a:avLst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1783080"/>
            <a:ext cx="3154680" cy="4297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4F7F5C"/>
                </a:solidFill>
                <a:latin typeface="Arial"/>
              </a:rPr>
              <a:t>CheckFirst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2A30"/>
                </a:solidFill>
                <a:latin typeface="Calibri"/>
              </a:rPr>
              <a:t>Q: Won't the person who picks "separate" still feel singled out?</a:t>
            </a:r>
          </a:p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A: The server asks the whole table, with separate checks as an ordinary option, like still or sparkling.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2A30"/>
                </a:solidFill>
                <a:latin typeface="Calibri"/>
              </a:rPr>
              <a:t>Q: What if the group is not sure yet?</a:t>
            </a:r>
          </a:p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A: "Decide later" is an option, and the answer can change with one tap before the bill prints.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2A30"/>
                </a:solidFill>
                <a:latin typeface="Calibri"/>
              </a:rPr>
              <a:t>Q: Why would restaurants adopt it?</a:t>
            </a:r>
          </a:p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A: It costs nothing to start, and servers stop rerunning bills when a table asks to split at the 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02168" y="1600200"/>
            <a:ext cx="3520440" cy="4572000"/>
          </a:xfrm>
          <a:prstGeom prst="roundRect">
            <a:avLst>
              <a:gd name="adj" fmla="val 4000"/>
            </a:avLst>
          </a:prstGeom>
          <a:solidFill>
            <a:srgbClr val="F2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5048" y="1783080"/>
            <a:ext cx="3154680" cy="4297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2E8B57"/>
                </a:solidFill>
                <a:latin typeface="Arial"/>
              </a:rPr>
              <a:t>SplitSense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2A30"/>
                </a:solidFill>
                <a:latin typeface="Calibri"/>
              </a:rPr>
              <a:t>Q: In a group of two, is it really anonymous?</a:t>
            </a:r>
          </a:p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A: No, so it activates only at tables of three or more.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2A30"/>
                </a:solidFill>
                <a:latin typeface="Calibri"/>
              </a:rPr>
              <a:t>Q: Why would a diner bother setting a limit?</a:t>
            </a:r>
          </a:p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A: It is one tap at check-in with a smart default already set.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2A30"/>
                </a:solidFill>
                <a:latin typeface="Calibri"/>
              </a:rPr>
              <a:t>Q: How is this different from CheckFirst?</a:t>
            </a:r>
          </a:p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A: CheckFirst makes the question normal for everyone. SplitSense protects people who still would not say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